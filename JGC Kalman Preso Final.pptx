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Libre Baskerville"/>
      <p:regular r:id="rId27"/>
      <p:bold r:id="rId28"/>
      <p:italic r:id="rId29"/>
      <p:boldItalic r:id="rId30"/>
    </p:embeddedFont>
    <p:embeddedFont>
      <p:font typeface="Oswa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LibreBaskerville-bold.fntdata"/><Relationship Id="rId27" Type="http://schemas.openxmlformats.org/officeDocument/2006/relationships/font" Target="fonts/LibreBaskervill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Baskervill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regular.fntdata"/><Relationship Id="rId30" Type="http://schemas.openxmlformats.org/officeDocument/2006/relationships/font" Target="fonts/LibreBaskervill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54ca07979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54ca07979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d54ca07979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6fad9d23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6fad9d23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86fad9d23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bbbc7aa5_3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3bbbc7aa5_3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3bbbc7aa5_3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bbbc7aa5_3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3bbbc7aa5_3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3bbbc7aa5_3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40a73a4ad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40a73a4ad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40a73a4ad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3bbbc7aa5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3bbbc7aa5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3bbbc7aa5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3bbbc7aa5_3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3bbbc7aa5_3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3bbbc7aa5_3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47d9d6f5d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47d9d6f5d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47d9d6f5d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47d9d6f5d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47d9d6f5d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47d9d6f5d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3bbbc7aa5_3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3bbbc7aa5_3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3bbbc7aa5_3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3bbbc7aa5_3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3bbbc7aa5_3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47d9d6f5d_0_4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47d9d6f5d_0_4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47d9d6f5d_0_4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47d9d6f5d_0_3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47d9d6f5d_0_3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47d9d6f5d_0_3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47d9d6f5d_0_3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47d9d6f5d_0_3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47d9d6f5d_0_3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6346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57200" y="1569307"/>
            <a:ext cx="4038600" cy="18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2pPr>
            <a:lvl3pPr indent="-3302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648200" y="1569307"/>
            <a:ext cx="4038600" cy="18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2pPr>
            <a:lvl3pPr indent="-3302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2000"/>
              <a:buFont typeface="Oswald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/>
          <p:nvPr>
            <p:ph idx="2" type="pic"/>
          </p:nvPr>
        </p:nvSpPr>
        <p:spPr>
          <a:xfrm>
            <a:off x="1792288" y="821723"/>
            <a:ext cx="5486400" cy="2724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144" y="0"/>
            <a:ext cx="9153143" cy="515322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836400" y="589406"/>
            <a:ext cx="7824300" cy="17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swald"/>
              <a:buNone/>
            </a:pPr>
            <a:r>
              <a:rPr b="1" lang="en-US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Utilizing Machine Learning Methods To Analyze Immunoglobulin Gene Annotations In </a:t>
            </a:r>
            <a:r>
              <a:rPr b="1" i="1" lang="en-US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Epomophorus</a:t>
            </a:r>
            <a:r>
              <a:rPr b="1" i="1" lang="en-US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labiatus</a:t>
            </a:r>
            <a:endParaRPr b="1" i="1" sz="36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013657" y="2571752"/>
            <a:ext cx="782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i="1" lang="en-US"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Jesse Gunn Cheu, Ken Field, Ava Hendrix, Brian King, Ashley Reers</a:t>
            </a:r>
            <a:r>
              <a:rPr baseline="30000" i="1" lang="en-US"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i="1" lang="en-US"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Lucas Canesin</a:t>
            </a:r>
            <a:r>
              <a:rPr baseline="30000" i="1" lang="en-US"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baseline="30000" i="1" sz="2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25" y="4346300"/>
            <a:ext cx="1771575" cy="622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1548" y="4346300"/>
            <a:ext cx="1890402" cy="622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" name="Google Shape;71;p15"/>
          <p:cNvSpPr txBox="1"/>
          <p:nvPr/>
        </p:nvSpPr>
        <p:spPr>
          <a:xfrm>
            <a:off x="106740" y="4257680"/>
            <a:ext cx="50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153769" y="4257680"/>
            <a:ext cx="50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702278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Motivation: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/>
              <a:t>Immunoglobulin </a:t>
            </a:r>
            <a:r>
              <a:rPr lang="en-US" sz="2100"/>
              <a:t>loci</a:t>
            </a:r>
            <a:r>
              <a:rPr lang="en-US" sz="2100"/>
              <a:t> gene annotations are a tedious and time consuming manual process.</a:t>
            </a:r>
            <a:r>
              <a:rPr b="1" lang="en-US" sz="2100"/>
              <a:t> How can machine learning provide further insight into this workflow?</a:t>
            </a:r>
            <a:endParaRPr b="1"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Kmer: Pieces of a sequence of a set length.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Class/Target: Category a given sample falls into.</a:t>
            </a:r>
            <a:endParaRPr sz="1800"/>
          </a:p>
        </p:txBody>
      </p:sp>
      <p:sp>
        <p:nvSpPr>
          <p:cNvPr id="86" name="Google Shape;86;p17"/>
          <p:cNvSpPr txBox="1"/>
          <p:nvPr/>
        </p:nvSpPr>
        <p:spPr>
          <a:xfrm>
            <a:off x="1007700" y="4014775"/>
            <a:ext cx="712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>
                <a:solidFill>
                  <a:srgbClr val="0000FF"/>
                </a:solidFill>
              </a:rPr>
              <a:t>TGT</a:t>
            </a:r>
            <a:r>
              <a:rPr lang="en-US" sz="2400">
                <a:solidFill>
                  <a:schemeClr val="dk2"/>
                </a:solidFill>
              </a:rPr>
              <a:t>ACTGCTAGCTAGCTACGAC</a:t>
            </a:r>
            <a:r>
              <a:rPr lang="en-US" sz="2400">
                <a:solidFill>
                  <a:srgbClr val="FF0000"/>
                </a:solidFill>
              </a:rPr>
              <a:t>T</a:t>
            </a:r>
            <a:r>
              <a:rPr lang="en-US" sz="2400">
                <a:solidFill>
                  <a:srgbClr val="0000FF"/>
                </a:solidFill>
              </a:rPr>
              <a:t>GACTGC</a:t>
            </a:r>
            <a:endParaRPr sz="2400">
              <a:solidFill>
                <a:srgbClr val="0000FF"/>
              </a:solidFill>
            </a:endParaRPr>
          </a:p>
        </p:txBody>
      </p:sp>
      <p:sp>
        <p:nvSpPr>
          <p:cNvPr id="87" name="Google Shape;87;p17"/>
          <p:cNvSpPr/>
          <p:nvPr/>
        </p:nvSpPr>
        <p:spPr>
          <a:xfrm rot="5400000">
            <a:off x="1315800" y="3811675"/>
            <a:ext cx="117000" cy="642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 rot="-5400000">
            <a:off x="1541100" y="4193100"/>
            <a:ext cx="100200" cy="546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502200" y="3612925"/>
            <a:ext cx="2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ATG </a:t>
            </a:r>
            <a:r>
              <a:rPr lang="en-US" sz="1800">
                <a:solidFill>
                  <a:schemeClr val="dk2"/>
                </a:solidFill>
              </a:rPr>
              <a:t>Trimer (3-mer)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38500" y="4460400"/>
            <a:ext cx="2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TGT</a:t>
            </a:r>
            <a:r>
              <a:rPr lang="en-US" sz="1800">
                <a:solidFill>
                  <a:srgbClr val="0000FF"/>
                </a:solidFill>
              </a:rPr>
              <a:t> </a:t>
            </a:r>
            <a:r>
              <a:rPr lang="en-US" sz="1800">
                <a:solidFill>
                  <a:schemeClr val="dk2"/>
                </a:solidFill>
              </a:rPr>
              <a:t>Trimer (3-mer)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 rot="5400000">
            <a:off x="6640025" y="3434575"/>
            <a:ext cx="117000" cy="12774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 rot="-5400000">
            <a:off x="6426825" y="3840000"/>
            <a:ext cx="117000" cy="12531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4966675" y="4516650"/>
            <a:ext cx="30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TGACTG </a:t>
            </a:r>
            <a:r>
              <a:rPr lang="en-US" sz="1800">
                <a:solidFill>
                  <a:schemeClr val="dk2"/>
                </a:solidFill>
              </a:rPr>
              <a:t>hepta</a:t>
            </a:r>
            <a:r>
              <a:rPr lang="en-US" sz="1800">
                <a:solidFill>
                  <a:schemeClr val="dk2"/>
                </a:solidFill>
              </a:rPr>
              <a:t>mer (6-mer)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5336050" y="3553075"/>
            <a:ext cx="30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</a:rPr>
              <a:t>GACTGC </a:t>
            </a:r>
            <a:r>
              <a:rPr lang="en-US" sz="1800">
                <a:solidFill>
                  <a:schemeClr val="dk2"/>
                </a:solidFill>
              </a:rPr>
              <a:t>heptamer (6-mer)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25" y="2458920"/>
            <a:ext cx="8839201" cy="225947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264300" y="1346995"/>
            <a:ext cx="319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2-mer: 4**2 = 16 columns</a:t>
            </a:r>
            <a:endParaRPr sz="18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3-mer: 4**3 = 64 columns</a:t>
            </a:r>
            <a:endParaRPr sz="18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6-mer: 4**6 = 4096 columns</a:t>
            </a:r>
            <a:endParaRPr sz="18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962925" y="1280520"/>
            <a:ext cx="4101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Kmer count was divided by length in order to focus on the importance of the kmer over the length</a:t>
            </a:r>
            <a:endParaRPr sz="18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" name="Google Shape;103;p18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8092975" y="2716400"/>
            <a:ext cx="690900" cy="377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Goals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Can we use kmers as a method of </a:t>
            </a:r>
            <a:r>
              <a:rPr lang="en-US" sz="1800"/>
              <a:t>determining</a:t>
            </a:r>
            <a:r>
              <a:rPr lang="en-US" sz="1800"/>
              <a:t> if a gene annotation is correct or incorrect?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Are there </a:t>
            </a:r>
            <a:r>
              <a:rPr lang="en-US" sz="1800"/>
              <a:t>specific</a:t>
            </a:r>
            <a:r>
              <a:rPr lang="en-US" sz="1800"/>
              <a:t> kmers that are important for differentiating correct and incorrect annotations?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What is the </a:t>
            </a:r>
            <a:r>
              <a:rPr lang="en-US" sz="1800"/>
              <a:t>feasibility</a:t>
            </a:r>
            <a:r>
              <a:rPr lang="en-US" sz="1800"/>
              <a:t> of this becoming a tool to help with the filtering process?</a:t>
            </a:r>
            <a:endParaRPr sz="1800"/>
          </a:p>
        </p:txBody>
      </p:sp>
      <p:sp>
        <p:nvSpPr>
          <p:cNvPr id="112" name="Google Shape;112;p19"/>
          <p:cNvSpPr/>
          <p:nvPr/>
        </p:nvSpPr>
        <p:spPr>
          <a:xfrm>
            <a:off x="4572000" y="640025"/>
            <a:ext cx="1937700" cy="377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Raw Annotations</a:t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6894600" y="640025"/>
            <a:ext cx="1937700" cy="377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Curated Annotations</a:t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5351250" y="1852875"/>
            <a:ext cx="2741700" cy="377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Merged Dataframe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4572000" y="1202300"/>
            <a:ext cx="1937700" cy="377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Seqs &amp; kmers</a:t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6894600" y="1202300"/>
            <a:ext cx="1937700" cy="377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Seqs &amp; kmers</a:t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5351250" y="2455225"/>
            <a:ext cx="2741700" cy="377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Exploratory Analysis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4572000" y="3106063"/>
            <a:ext cx="1937700" cy="377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Logistic Regression</a:t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6894600" y="3106063"/>
            <a:ext cx="1937700" cy="377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 Trees</a:t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5351250" y="3756900"/>
            <a:ext cx="2741700" cy="377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Accuracy Testing</a:t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5351250" y="4456225"/>
            <a:ext cx="2741700" cy="377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Conclusions</a:t>
            </a:r>
            <a:endParaRPr/>
          </a:p>
        </p:txBody>
      </p:sp>
      <p:cxnSp>
        <p:nvCxnSpPr>
          <p:cNvPr id="122" name="Google Shape;122;p19"/>
          <p:cNvCxnSpPr>
            <a:stCxn id="115" idx="2"/>
            <a:endCxn id="114" idx="0"/>
          </p:cNvCxnSpPr>
          <p:nvPr/>
        </p:nvCxnSpPr>
        <p:spPr>
          <a:xfrm flipH="1" rot="-5400000">
            <a:off x="5995050" y="1125800"/>
            <a:ext cx="273000" cy="1181400"/>
          </a:xfrm>
          <a:prstGeom prst="bentConnector3">
            <a:avLst>
              <a:gd fmla="val 4997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9"/>
          <p:cNvCxnSpPr>
            <a:stCxn id="116" idx="2"/>
            <a:endCxn id="114" idx="0"/>
          </p:cNvCxnSpPr>
          <p:nvPr/>
        </p:nvCxnSpPr>
        <p:spPr>
          <a:xfrm rot="5400000">
            <a:off x="7156350" y="1145900"/>
            <a:ext cx="273000" cy="1141200"/>
          </a:xfrm>
          <a:prstGeom prst="bentConnector3">
            <a:avLst>
              <a:gd fmla="val 4997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9"/>
          <p:cNvCxnSpPr>
            <a:stCxn id="118" idx="0"/>
            <a:endCxn id="117" idx="2"/>
          </p:cNvCxnSpPr>
          <p:nvPr/>
        </p:nvCxnSpPr>
        <p:spPr>
          <a:xfrm rot="-5400000">
            <a:off x="5995050" y="2378863"/>
            <a:ext cx="273000" cy="1181400"/>
          </a:xfrm>
          <a:prstGeom prst="bentConnector3">
            <a:avLst>
              <a:gd fmla="val 5002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5" name="Google Shape;125;p19"/>
          <p:cNvCxnSpPr>
            <a:stCxn id="118" idx="2"/>
            <a:endCxn id="120" idx="0"/>
          </p:cNvCxnSpPr>
          <p:nvPr/>
        </p:nvCxnSpPr>
        <p:spPr>
          <a:xfrm flipH="1" rot="-5400000">
            <a:off x="5995050" y="3029563"/>
            <a:ext cx="273000" cy="1181400"/>
          </a:xfrm>
          <a:prstGeom prst="bentConnector3">
            <a:avLst>
              <a:gd fmla="val 5002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9"/>
          <p:cNvCxnSpPr>
            <a:stCxn id="117" idx="2"/>
            <a:endCxn id="119" idx="0"/>
          </p:cNvCxnSpPr>
          <p:nvPr/>
        </p:nvCxnSpPr>
        <p:spPr>
          <a:xfrm flipH="1" rot="-5400000">
            <a:off x="7156350" y="2398675"/>
            <a:ext cx="273000" cy="1141500"/>
          </a:xfrm>
          <a:prstGeom prst="bentConnector3">
            <a:avLst>
              <a:gd fmla="val 5002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9"/>
          <p:cNvCxnSpPr>
            <a:stCxn id="120" idx="0"/>
            <a:endCxn id="119" idx="2"/>
          </p:cNvCxnSpPr>
          <p:nvPr/>
        </p:nvCxnSpPr>
        <p:spPr>
          <a:xfrm rot="-5400000">
            <a:off x="7156350" y="3049650"/>
            <a:ext cx="273000" cy="1141500"/>
          </a:xfrm>
          <a:prstGeom prst="bentConnector3">
            <a:avLst>
              <a:gd fmla="val 5002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9"/>
          <p:cNvCxnSpPr>
            <a:stCxn id="112" idx="2"/>
            <a:endCxn id="115" idx="0"/>
          </p:cNvCxnSpPr>
          <p:nvPr/>
        </p:nvCxnSpPr>
        <p:spPr>
          <a:xfrm flipH="1" rot="-5400000">
            <a:off x="5448900" y="1109675"/>
            <a:ext cx="184500" cy="600"/>
          </a:xfrm>
          <a:prstGeom prst="bentConnector3">
            <a:avLst>
              <a:gd fmla="val 500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9"/>
          <p:cNvCxnSpPr>
            <a:stCxn id="116" idx="0"/>
            <a:endCxn id="113" idx="2"/>
          </p:cNvCxnSpPr>
          <p:nvPr/>
        </p:nvCxnSpPr>
        <p:spPr>
          <a:xfrm rot="10800000">
            <a:off x="7863450" y="1017800"/>
            <a:ext cx="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9"/>
          <p:cNvCxnSpPr>
            <a:stCxn id="117" idx="0"/>
            <a:endCxn id="114" idx="2"/>
          </p:cNvCxnSpPr>
          <p:nvPr/>
        </p:nvCxnSpPr>
        <p:spPr>
          <a:xfrm rot="10800000">
            <a:off x="6722100" y="2230525"/>
            <a:ext cx="0" cy="2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1" name="Google Shape;131;p19"/>
          <p:cNvCxnSpPr>
            <a:stCxn id="121" idx="0"/>
            <a:endCxn id="120" idx="2"/>
          </p:cNvCxnSpPr>
          <p:nvPr/>
        </p:nvCxnSpPr>
        <p:spPr>
          <a:xfrm rot="10800000">
            <a:off x="6722100" y="4134625"/>
            <a:ext cx="0" cy="3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457200" y="233704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 types of interest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481500" y="1091100"/>
            <a:ext cx="8181000" cy="290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Immunoglobulin Lambda Joining cluster </a:t>
            </a:r>
            <a:r>
              <a:rPr lang="en-US"/>
              <a:t>(IGLJ)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Immunoglobulin Lambda Variable cluster (IGLV)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RSS23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L-PART1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L-PART2</a:t>
            </a: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1829063" y="4076975"/>
            <a:ext cx="1187700" cy="385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L-PART1</a:t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3259763" y="4076975"/>
            <a:ext cx="1187700" cy="385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L-PART2</a:t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4924963" y="4076975"/>
            <a:ext cx="481800" cy="385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J/V</a:t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5879050" y="4076975"/>
            <a:ext cx="481800" cy="385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J/V</a:t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6833138" y="4076975"/>
            <a:ext cx="481800" cy="385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J/V</a:t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 rot="-5400000">
            <a:off x="4558813" y="4096623"/>
            <a:ext cx="385800" cy="346500"/>
          </a:xfrm>
          <a:prstGeom prst="triangle">
            <a:avLst>
              <a:gd fmla="val 50000" name="adj"/>
            </a:avLst>
          </a:prstGeom>
          <a:solidFill>
            <a:srgbClr val="FF7B7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45" name="Google Shape;145;p20"/>
          <p:cNvSpPr/>
          <p:nvPr/>
        </p:nvSpPr>
        <p:spPr>
          <a:xfrm rot="-5400000">
            <a:off x="5512913" y="4096623"/>
            <a:ext cx="385800" cy="346500"/>
          </a:xfrm>
          <a:prstGeom prst="triangle">
            <a:avLst>
              <a:gd fmla="val 50000" name="adj"/>
            </a:avLst>
          </a:prstGeom>
          <a:solidFill>
            <a:srgbClr val="FF7B7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46" name="Google Shape;146;p20"/>
          <p:cNvSpPr/>
          <p:nvPr/>
        </p:nvSpPr>
        <p:spPr>
          <a:xfrm rot="-5400000">
            <a:off x="6467013" y="4096623"/>
            <a:ext cx="385800" cy="346500"/>
          </a:xfrm>
          <a:prstGeom prst="triangle">
            <a:avLst>
              <a:gd fmla="val 50000" name="adj"/>
            </a:avLst>
          </a:prstGeom>
          <a:solidFill>
            <a:srgbClr val="FF7B7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cxnSp>
        <p:nvCxnSpPr>
          <p:cNvPr id="147" name="Google Shape;147;p20"/>
          <p:cNvCxnSpPr>
            <a:stCxn id="139" idx="3"/>
            <a:endCxn id="140" idx="1"/>
          </p:cNvCxnSpPr>
          <p:nvPr/>
        </p:nvCxnSpPr>
        <p:spPr>
          <a:xfrm>
            <a:off x="3016763" y="4269875"/>
            <a:ext cx="24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0"/>
          <p:cNvCxnSpPr>
            <a:endCxn id="144" idx="0"/>
          </p:cNvCxnSpPr>
          <p:nvPr/>
        </p:nvCxnSpPr>
        <p:spPr>
          <a:xfrm>
            <a:off x="4447363" y="4269873"/>
            <a:ext cx="13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0"/>
          <p:cNvCxnSpPr>
            <a:endCxn id="145" idx="0"/>
          </p:cNvCxnSpPr>
          <p:nvPr/>
        </p:nvCxnSpPr>
        <p:spPr>
          <a:xfrm>
            <a:off x="5406863" y="4269873"/>
            <a:ext cx="12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0"/>
          <p:cNvCxnSpPr>
            <a:endCxn id="146" idx="0"/>
          </p:cNvCxnSpPr>
          <p:nvPr/>
        </p:nvCxnSpPr>
        <p:spPr>
          <a:xfrm>
            <a:off x="6360963" y="4269873"/>
            <a:ext cx="12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>
            <a:off x="640488" y="4269875"/>
            <a:ext cx="118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none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7314913" y="4269875"/>
            <a:ext cx="118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153" name="Google Shape;153;p20"/>
          <p:cNvSpPr/>
          <p:nvPr/>
        </p:nvSpPr>
        <p:spPr>
          <a:xfrm>
            <a:off x="481500" y="1052800"/>
            <a:ext cx="5397600" cy="530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1" title="feature_counts.png"/>
          <p:cNvPicPr preferRelativeResize="0"/>
          <p:nvPr/>
        </p:nvPicPr>
        <p:blipFill rotWithShape="1">
          <a:blip r:embed="rId3">
            <a:alphaModFix/>
          </a:blip>
          <a:srcRect b="0" l="-1140" r="-2519" t="0"/>
          <a:stretch/>
        </p:blipFill>
        <p:spPr>
          <a:xfrm>
            <a:off x="72325" y="119100"/>
            <a:ext cx="9071675" cy="48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Filtering</a:t>
            </a: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311700" y="1152475"/>
            <a:ext cx="3501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Pairwise distances between sequence kmers ( &lt; 1-e10) meant two sequences were the same.</a:t>
            </a:r>
            <a:endParaRPr sz="18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311700" y="2303025"/>
            <a:ext cx="335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38</a:t>
            </a:r>
            <a:r>
              <a:rPr b="1" lang="en-US" sz="2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 IGLJ → 29 IGLJ = 9 duplicates removed</a:t>
            </a:r>
            <a:endParaRPr b="1" sz="22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8" name="Google Shape;168;p22" title="post_filter_counts_IGLJ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775" y="849263"/>
            <a:ext cx="5025900" cy="376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3" title="pca_scatter_3d_IGLJ.png"/>
          <p:cNvPicPr preferRelativeResize="0"/>
          <p:nvPr/>
        </p:nvPicPr>
        <p:blipFill rotWithShape="1">
          <a:blip r:embed="rId3">
            <a:alphaModFix/>
          </a:blip>
          <a:srcRect b="8943" l="11988" r="4990" t="14884"/>
          <a:stretch/>
        </p:blipFill>
        <p:spPr>
          <a:xfrm>
            <a:off x="-127100" y="437463"/>
            <a:ext cx="5128551" cy="47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 txBox="1"/>
          <p:nvPr/>
        </p:nvSpPr>
        <p:spPr>
          <a:xfrm>
            <a:off x="162500" y="113050"/>
            <a:ext cx="40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PCA Plots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6" name="Google Shape;176;p23" title="pca_scatter_IGLJ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8250" y="1703300"/>
            <a:ext cx="4095225" cy="305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23"/>
          <p:cNvCxnSpPr/>
          <p:nvPr/>
        </p:nvCxnSpPr>
        <p:spPr>
          <a:xfrm flipH="1" rot="10800000">
            <a:off x="6295125" y="2444725"/>
            <a:ext cx="2148000" cy="17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3"/>
          <p:cNvSpPr txBox="1"/>
          <p:nvPr/>
        </p:nvSpPr>
        <p:spPr>
          <a:xfrm>
            <a:off x="4898250" y="280050"/>
            <a:ext cx="374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Here we can determine if there is a clear divide between our two classes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Building Our Classifiers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Decision Trees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Split the data on key features which can be visualized creating a tree.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Logistic Regression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More powerful for large data but still functions on classifying binary classes (Raw or Curated).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Grid 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Not a classifier, but a method of refining classifiers via multiple iterations to improve accuracy.</a:t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5994450" y="249600"/>
            <a:ext cx="1422000" cy="88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 124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ATGC = 0.078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TGCC = 0.022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6100350" y="1565750"/>
            <a:ext cx="1210200" cy="12102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" name="Google Shape;188;p24"/>
          <p:cNvCxnSpPr>
            <a:stCxn id="186" idx="2"/>
            <a:endCxn id="187" idx="0"/>
          </p:cNvCxnSpPr>
          <p:nvPr/>
        </p:nvCxnSpPr>
        <p:spPr>
          <a:xfrm>
            <a:off x="6705450" y="1139100"/>
            <a:ext cx="0" cy="42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24"/>
          <p:cNvSpPr/>
          <p:nvPr/>
        </p:nvSpPr>
        <p:spPr>
          <a:xfrm>
            <a:off x="4358688" y="3282775"/>
            <a:ext cx="2044200" cy="7110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Raw == Not a real annotation</a:t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>
            <a:off x="7008000" y="3282775"/>
            <a:ext cx="1940100" cy="711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Curated == Real annotation</a:t>
            </a:r>
            <a:endParaRPr/>
          </a:p>
        </p:txBody>
      </p:sp>
      <p:cxnSp>
        <p:nvCxnSpPr>
          <p:cNvPr id="191" name="Google Shape;191;p24"/>
          <p:cNvCxnSpPr>
            <a:stCxn id="187" idx="3"/>
            <a:endCxn id="189" idx="0"/>
          </p:cNvCxnSpPr>
          <p:nvPr/>
        </p:nvCxnSpPr>
        <p:spPr>
          <a:xfrm flipH="1">
            <a:off x="5380880" y="2598720"/>
            <a:ext cx="896700" cy="6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4"/>
          <p:cNvCxnSpPr>
            <a:stCxn id="187" idx="5"/>
            <a:endCxn id="190" idx="0"/>
          </p:cNvCxnSpPr>
          <p:nvPr/>
        </p:nvCxnSpPr>
        <p:spPr>
          <a:xfrm>
            <a:off x="7133320" y="2598720"/>
            <a:ext cx="844800" cy="6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2626" y="629799"/>
            <a:ext cx="7849851" cy="43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/>
          <p:nvPr/>
        </p:nvSpPr>
        <p:spPr>
          <a:xfrm>
            <a:off x="3523478" y="2876921"/>
            <a:ext cx="1731300" cy="859800"/>
          </a:xfrm>
          <a:prstGeom prst="rect">
            <a:avLst/>
          </a:prstGeom>
          <a:noFill/>
          <a:ln cap="flat" cmpd="sng" w="697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5226853" y="1950434"/>
            <a:ext cx="1870500" cy="926400"/>
          </a:xfrm>
          <a:prstGeom prst="rect">
            <a:avLst/>
          </a:prstGeom>
          <a:noFill/>
          <a:ln cap="flat" cmpd="sng" w="69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625" lIns="83625" spcFirstLastPara="1" rIns="83625" wrap="square" tIns="83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" name="Google Shape;20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Classifier Metrics Refresher</a:t>
            </a:r>
            <a:endParaRPr/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311700" y="1152475"/>
            <a:ext cx="2125500" cy="3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we manually curate, false positives are ideal…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ex: If screening for a sickness, better to have a false positive than false negative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6" title="decision_tree_dt-6mers_IGLJ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825" y="642938"/>
            <a:ext cx="7934325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/>
          <p:nvPr/>
        </p:nvSpPr>
        <p:spPr>
          <a:xfrm>
            <a:off x="5682775" y="932175"/>
            <a:ext cx="923100" cy="376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191725" y="199100"/>
            <a:ext cx="424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Basic Decision Tree Results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 title="decision_tree_Decision Tree with 2mers_RSS2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825" y="642938"/>
            <a:ext cx="7934325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 txBox="1"/>
          <p:nvPr/>
        </p:nvSpPr>
        <p:spPr>
          <a:xfrm>
            <a:off x="191725" y="199100"/>
            <a:ext cx="424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Decision Tree Results </a:t>
            </a:r>
            <a:r>
              <a:rPr lang="en-US" sz="1800" u="sng">
                <a:solidFill>
                  <a:schemeClr val="dk2"/>
                </a:solidFill>
              </a:rPr>
              <a:t>RSS23</a:t>
            </a:r>
            <a:endParaRPr sz="18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8" title="final_logistic_regression_6-mer_IGLJ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800" y="248275"/>
            <a:ext cx="8438625" cy="43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134275" y="134225"/>
            <a:ext cx="40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Grid Search Logistic Regression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457200" y="18832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3600"/>
              <a:buFont typeface="Oswald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229" name="Google Shape;229;p29"/>
          <p:cNvSpPr txBox="1"/>
          <p:nvPr>
            <p:ph idx="1" type="body"/>
          </p:nvPr>
        </p:nvSpPr>
        <p:spPr>
          <a:xfrm>
            <a:off x="457200" y="1045718"/>
            <a:ext cx="4038600" cy="3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b="1" lang="en-US" sz="1800"/>
              <a:t>Limitations</a:t>
            </a:r>
            <a:endParaRPr b="1" sz="1800"/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 sz="1800"/>
              <a:t>Does not take into account sequence location or any other factors…</a:t>
            </a:r>
            <a:endParaRPr sz="1800"/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 sz="1800"/>
              <a:t>ATGC on chr 1 == ATGC on chr 12</a:t>
            </a:r>
            <a:endParaRPr sz="1800"/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 sz="1800"/>
              <a:t>Relatively small dataset, more data == more general model</a:t>
            </a:r>
            <a:endParaRPr sz="1800"/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b="1" lang="en-US" sz="1800"/>
              <a:t>Future Steps</a:t>
            </a:r>
            <a:endParaRPr b="1" sz="1800"/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 sz="1800"/>
              <a:t>More general pipeline</a:t>
            </a:r>
            <a:endParaRPr sz="1800"/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US" sz="1800"/>
              <a:t>More classifiers (Neural nets)</a:t>
            </a:r>
            <a:endParaRPr sz="1800"/>
          </a:p>
          <a:p>
            <a:pPr indent="-215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11111"/>
              <a:buNone/>
            </a:pPr>
            <a:r>
              <a:rPr lang="en-US" sz="1800"/>
              <a:t>More specific to IG features</a:t>
            </a:r>
            <a:endParaRPr sz="1800"/>
          </a:p>
        </p:txBody>
      </p:sp>
      <p:sp>
        <p:nvSpPr>
          <p:cNvPr id="230" name="Google Shape;230;p29"/>
          <p:cNvSpPr/>
          <p:nvPr/>
        </p:nvSpPr>
        <p:spPr>
          <a:xfrm>
            <a:off x="4984650" y="1196125"/>
            <a:ext cx="1715400" cy="3362400"/>
          </a:xfrm>
          <a:prstGeom prst="rect">
            <a:avLst/>
          </a:prstGeom>
          <a:solidFill>
            <a:srgbClr val="F3F3F3"/>
          </a:solidFill>
          <a:ln cap="flat" cmpd="sng" w="11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750" lIns="107750" spcFirstLastPara="1" rIns="107750" wrap="square" tIns="10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/>
          </a:p>
        </p:txBody>
      </p:sp>
      <p:sp>
        <p:nvSpPr>
          <p:cNvPr id="231" name="Google Shape;231;p29"/>
          <p:cNvSpPr/>
          <p:nvPr/>
        </p:nvSpPr>
        <p:spPr>
          <a:xfrm>
            <a:off x="6699885" y="1196125"/>
            <a:ext cx="1715400" cy="3362400"/>
          </a:xfrm>
          <a:prstGeom prst="rect">
            <a:avLst/>
          </a:prstGeom>
          <a:solidFill>
            <a:srgbClr val="F3F3F3"/>
          </a:solidFill>
          <a:ln cap="flat" cmpd="sng" w="11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750" lIns="107750" spcFirstLastPara="1" rIns="107750" wrap="square" tIns="10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/>
          </a:p>
        </p:txBody>
      </p:sp>
      <p:pic>
        <p:nvPicPr>
          <p:cNvPr id="232" name="Google Shape;23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025" y="1864775"/>
            <a:ext cx="1208474" cy="24693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9"/>
          <p:cNvSpPr/>
          <p:nvPr/>
        </p:nvSpPr>
        <p:spPr>
          <a:xfrm>
            <a:off x="5029650" y="1287075"/>
            <a:ext cx="1625400" cy="407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Odorant Receptor</a:t>
            </a: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6744875" y="1287075"/>
            <a:ext cx="1625400" cy="4071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Odorant Receptor</a:t>
            </a:r>
            <a:endParaRPr/>
          </a:p>
        </p:txBody>
      </p:sp>
      <p:pic>
        <p:nvPicPr>
          <p:cNvPr id="235" name="Google Shape;23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1825" y="2389450"/>
            <a:ext cx="1471501" cy="1235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p29"/>
          <p:cNvCxnSpPr/>
          <p:nvPr/>
        </p:nvCxnSpPr>
        <p:spPr>
          <a:xfrm flipH="1" rot="10800000">
            <a:off x="2806225" y="3229825"/>
            <a:ext cx="20574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242" name="Google Shape;242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</a:t>
            </a:r>
            <a:endParaRPr/>
          </a:p>
        </p:txBody>
      </p:sp>
      <p:pic>
        <p:nvPicPr>
          <p:cNvPr id="243" name="Google Shape;2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325" y="110600"/>
            <a:ext cx="4311400" cy="4295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30"/>
          <p:cNvSpPr txBox="1"/>
          <p:nvPr/>
        </p:nvSpPr>
        <p:spPr>
          <a:xfrm>
            <a:off x="4830100" y="4446650"/>
            <a:ext cx="424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Github: JesseGunn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Citations</a:t>
            </a:r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Lees WD, Saha S, Yaari G, Watson CT. Digger: directed annotation of immunoglobulin and T cell receptor V, D, and J gene sequences and assemblies. Bioinformatics. 2024 Mar 4;40(3):btae144. doi: 10.1093/bioinformatics/btae144. PMID: 38478393; PMCID: PMC10957512.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